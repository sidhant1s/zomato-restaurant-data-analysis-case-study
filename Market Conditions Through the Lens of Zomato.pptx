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F8F507-56E7-45A0-BFBC-37E3077715D9}">
          <p14:sldIdLst>
            <p14:sldId id="256"/>
            <p14:sldId id="257"/>
            <p14:sldId id="260"/>
            <p14:sldId id="258"/>
            <p14:sldId id="261"/>
            <p14:sldId id="259"/>
            <p14:sldId id="263"/>
            <p14:sldId id="262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53BB-1430-0DDD-AC63-3B7613E63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E001B-BDB6-1468-A10E-0FC625F5B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01CC4-C735-9E58-2DFD-F6D16D04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FB42C-9ABD-6A41-5DE5-B420E076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2603-AB79-550B-6850-0DC9DEE5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27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37DF-46E2-3CFA-34F4-6F27A906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18C-1536-3D40-9201-4BF74DCE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A8987-1A46-A0E5-788A-60762221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FC9F8-F1A9-CB25-5AEF-CEA27B10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C9679-9F16-7239-D6D7-8D8DBF68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1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5DAA-8193-82EB-62C4-4C7DD981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E922A-61BB-7E04-291F-980CA012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E3AAD-625E-7FDF-CD63-88C5C36F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96F6F-2746-625A-E2F6-D8490051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0CA1-33BA-68BB-0B80-54B6C197F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78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0924-C9E9-32C6-9FEB-212B6CED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647BD-DBBE-639C-9BCB-F787C2B48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A59B9-EE35-6D6E-A271-1ADB69F98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25230-3D77-4B84-6230-A4D7D4FA2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063E9-1D42-1ECB-7B66-8255FBB4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E72669-2BCF-364D-6882-337063A0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12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3BE0-9341-E707-29C6-741F28438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8D049-85BE-5BD6-8329-BE1ABFD36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44A6F-DE70-B421-246E-45D7E34C1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F5837-2865-377B-C6F8-0D75786B3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AF47E-B368-097F-C8F4-C19EE6FA0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0115A7-366D-86B7-662E-E9570EA8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844358-FC39-4385-4A5A-664443CF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74242-9D03-6D0B-A3E0-EBE8DFFE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09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D823-362E-30BF-3DD4-C95A4BE24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9F933-2E51-85FA-B685-A739E8E4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EE9E90-2E31-906F-65F1-2E2B86A9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E61A0-DAE4-3190-23E8-B08D62033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16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C3DFC1-F219-48B6-AFB1-9B7A8FEB7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8D115-6B8F-ECF5-0789-8ADB714B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02633-5C43-449D-1BB0-440D7A87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6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F2A9-9165-9A22-4DFA-B7DE0F08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46BF0-8C7F-B145-D672-7AE7436C7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B67D6-E376-E93F-C3B5-A449DA6B2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62189E-E7C2-EB98-EAA5-A08D1B42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2CFCF-5B30-7CF7-08A5-6F06E1D54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AEEE-3143-6006-DAA1-F5BF3798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7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318A-D081-4D14-EF8F-6BC4098E4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F05B7-A0FF-C01A-F547-FECFA7504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CB937-258F-C826-C8FE-EF7A870468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19A2-33BF-F3E4-84F1-F18DE0B8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5D3A8-0A02-0C95-63A8-BEECD3E38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B1934-3DAD-12CA-70A4-C3EECE20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24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AE0FB-D802-D8D4-91E9-B6E64CF8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E50B0-404F-27E6-7749-4D51EF4A3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C2214-9A65-0FFA-EFED-AF99E3E04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47FF0-344A-CF3B-7FFA-31790CA4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6C720-82CC-79AA-503D-4F89D620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92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D6F10-24E3-C7C5-65D9-A72321144B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B3B2C-3CBA-E956-2C4B-4B878535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BF194-2D73-256D-964D-EE853258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9528C-DA4E-4623-3273-1FBB522B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8161E-28E9-A688-8154-3AD59879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09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99F7C-924E-C5CA-A857-6E6282E4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81FE7-3B39-9DEC-C2EC-49426EC6C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3F161-A955-DE65-E665-0DFA8C311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F53CD-725E-4EBB-85B0-F69233C18FA5}" type="datetimeFigureOut">
              <a:rPr lang="en-IN" smtClean="0"/>
              <a:t>15-08-2026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206D-D0CC-9130-25C5-5CB39D476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4D70-F144-67B5-861D-0B9093B5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34CD4-B4CC-4DC2-9BF1-E48A55FAE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942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55ECE-B7E8-4B8F-B0E4-77FA4FFE7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4232" y="573723"/>
            <a:ext cx="9144000" cy="2387600"/>
          </a:xfrm>
        </p:spPr>
        <p:txBody>
          <a:bodyPr/>
          <a:lstStyle/>
          <a:p>
            <a:r>
              <a:rPr lang="en-IN" dirty="0"/>
              <a:t>Market Conditions Through the Lens of Zomato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94C42-0FE5-EAE8-46A5-0012A913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896" y="4232974"/>
            <a:ext cx="2545080" cy="1655762"/>
          </a:xfrm>
        </p:spPr>
        <p:txBody>
          <a:bodyPr/>
          <a:lstStyle/>
          <a:p>
            <a:pPr algn="l"/>
            <a:r>
              <a:rPr lang="en-US" dirty="0"/>
              <a:t>ZOMATO</a:t>
            </a:r>
          </a:p>
          <a:p>
            <a:pPr algn="l"/>
            <a:r>
              <a:rPr lang="en-US" dirty="0"/>
              <a:t>AUGUST 2026</a:t>
            </a:r>
          </a:p>
        </p:txBody>
      </p:sp>
    </p:spTree>
    <p:extLst>
      <p:ext uri="{BB962C8B-B14F-4D97-AF65-F5344CB8AC3E}">
        <p14:creationId xmlns:p14="http://schemas.microsoft.com/office/powerpoint/2010/main" val="265274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1B41F-8E18-426E-6D64-47BABA43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19C9-ED77-6849-EC45-6B04D58FE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Problem statement</a:t>
            </a:r>
          </a:p>
          <a:p>
            <a:r>
              <a:rPr lang="en-US" sz="3200" dirty="0"/>
              <a:t>KPI</a:t>
            </a:r>
          </a:p>
          <a:p>
            <a:r>
              <a:rPr lang="en-US" sz="3200" dirty="0"/>
              <a:t>Conclusion </a:t>
            </a:r>
          </a:p>
          <a:p>
            <a:r>
              <a:rPr lang="en-US" sz="3200" dirty="0"/>
              <a:t>Summary </a:t>
            </a:r>
          </a:p>
          <a:p>
            <a:r>
              <a:rPr lang="en-US" sz="3200" dirty="0"/>
              <a:t>Recommendation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56542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60F0E-8D19-9D24-0B1B-46E30BF1F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032" y="44742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Business Problem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6D094-C274-5DB1-4A3D-63060B9CE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848" y="2549588"/>
            <a:ext cx="10515600" cy="4573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600" i="1" dirty="0"/>
              <a:t>How do restaurant pricing tiers, service types, and quality benchmarks influence customer ratings and satisfaction, and what key economic thresholds must new market entrants navigate to succeed?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0006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7E7F-6DC7-F21E-7817-672C4D61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91439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693C22C-530D-FC3F-B1A8-403497F21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B404EE-A87B-61EF-AD55-C84DCF23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384"/>
            <a:ext cx="12192000" cy="596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29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F74C-ADF9-1B3B-8BBF-9E68BFB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431D-781B-0C25-935F-BC91AAB38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" y="1"/>
            <a:ext cx="10515600" cy="91439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/>
              <a:t>KPI</a:t>
            </a:r>
            <a:endParaRPr lang="en-IN" sz="4800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C64656-4810-2A88-35C4-0C276B55A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3816"/>
            <a:ext cx="12097512" cy="60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72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376E4-1256-5C14-4F32-E59C8B95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94C1-00F7-1E4B-4CD2-C6D86B122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792" y="238340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Restaurants across every price tier, from budget spots (~₹40 for two) to fine dining (~₹6,000 for two), can achieve high ratings.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Premium pricing and upscale ambiance provide only a marginal advantage; consistent food quality and the right service format (Fine Dining, Quick Bites, Cafe, etc.) are what actually convert customers into satisfied, repeat diners.</a:t>
            </a:r>
          </a:p>
        </p:txBody>
      </p:sp>
    </p:spTree>
    <p:extLst>
      <p:ext uri="{BB962C8B-B14F-4D97-AF65-F5344CB8AC3E}">
        <p14:creationId xmlns:p14="http://schemas.microsoft.com/office/powerpoint/2010/main" val="183924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61B9-1F78-ED62-C7FE-DC48ADC4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00835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4DF3-F2D3-7BD2-8107-B367D53B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Success in the F&amp;B market depends more on consistent quality and the right service model than on pricing strategy alone.</a:t>
            </a:r>
          </a:p>
        </p:txBody>
      </p:sp>
    </p:spTree>
    <p:extLst>
      <p:ext uri="{BB962C8B-B14F-4D97-AF65-F5344CB8AC3E}">
        <p14:creationId xmlns:p14="http://schemas.microsoft.com/office/powerpoint/2010/main" val="164559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37B0-2F83-1936-725C-3E6DA59C0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F070-2180-2DE1-C636-E8C94A71F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936" y="245084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New market entrants and existing restaurants should focus investment on food quality and operational consistency, adopt competitive mid-tier pricing, and align their service format to customer expectations. Deeper, localized consumer surveys are recommended to further refine pricing and format decisions by region and cuisine.</a:t>
            </a:r>
          </a:p>
        </p:txBody>
      </p:sp>
    </p:spTree>
    <p:extLst>
      <p:ext uri="{BB962C8B-B14F-4D97-AF65-F5344CB8AC3E}">
        <p14:creationId xmlns:p14="http://schemas.microsoft.com/office/powerpoint/2010/main" val="76050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BEFBFB-9786-7FD6-9AB0-61010166D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5051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54222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202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Market Conditions Through the Lens of Zomato</vt:lpstr>
      <vt:lpstr>Table of context</vt:lpstr>
      <vt:lpstr>Business Problem </vt:lpstr>
      <vt:lpstr>KPI</vt:lpstr>
      <vt:lpstr>KPI</vt:lpstr>
      <vt:lpstr>SUMMARY</vt:lpstr>
      <vt:lpstr>CONCLUSION</vt:lpstr>
      <vt:lpstr>RECOMMENDATION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SIDHANT NEGI</dc:creator>
  <cp:lastModifiedBy>SIDHANT NEGI</cp:lastModifiedBy>
  <cp:revision>1</cp:revision>
  <dcterms:created xsi:type="dcterms:W3CDTF">2026-08-15T05:51:07Z</dcterms:created>
  <dcterms:modified xsi:type="dcterms:W3CDTF">2026-08-15T06:03:25Z</dcterms:modified>
</cp:coreProperties>
</file>